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team. One line: ThermoTwin predicts heat-triggered crises in people with hypertension, and corrects for the medicines that fool normal wearables.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gap between 14 official deaths and about 30,000 excess deaths. Heat hides in cardiac-arrest counts, and hypertension is where heat and heart risk meet.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insight. On real heat-trial data, a plain heart-rate model caught 18% of dangerous minutes for a beta-blocked patient. ThermoTwin caught 62%, with an 8% false-alarm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condition is hypertension, which the brief names directly. Heat is the stressor. The twin fuses the static record with the live stream and predicts a specific event: core temperature reaching 38 degrees.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data streams, the four-step twin engine, the API and review rules, then the dashboard. PROSPIE is validation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is where the record changes the physics. To avoid circular results, the simulator uses JOS-3 and the twin uses ECTemp and Gagge, and each patient's true drug response is hidden.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these are real core temperatures. Our filter matches the published accuracy. The medication-aware twin roughly triples detection for beta-blocked patients.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Weather-only alerts are near chance for individuals. Learning each worker adds about 0.11 AUROC. The oracle row shows the remaining gap is in estimating current temperature: our next research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Farhan Ali, a farm labourer on a beta-blocker. The band is honest uncertainty from real-data error, not the filter's overconfident variance.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twin doesn't just alarm. It re-simulates a rest break, and before the season it gives the doctor a ranked, evidence-cited medication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short: the record changes the physics, it is validated on real data, and every result is reported against baselines.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will ask these questions, so we answer them first. Research prototype, not a medical 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 idea: the medical record should change how we read the body in the heat. Invite judges to run it with one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Happiest Health · Digital Twin Challenge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ThermoTwin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hypertension digital twin that knows how your medicines handle India's heat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 · [College / incubator]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 is hiding inside heart deaths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heat toll is massively under-counted, and hypertension sits at the centre of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F0EEEA"/>
          </a:solidFill>
          <a:ln w="12700">
            <a:solidFill>
              <a:srgbClr val="F0EE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6459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B67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5146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heatstroke deaths in India, 2025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41732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F0EEEA"/>
          </a:solidFill>
          <a:ln w="12700">
            <a:solidFill>
              <a:srgbClr val="F0EE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6459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2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~30,000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5146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excess deaths from a single five-day heatwave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F0EEEA"/>
          </a:solidFill>
          <a:ln w="12700">
            <a:solidFill>
              <a:srgbClr val="F0EE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6459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44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315 M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5146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adults living with hypertension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141732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F0EEEA"/>
          </a:solidFill>
          <a:ln w="12700">
            <a:solidFill>
              <a:srgbClr val="F0EE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16459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8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~380 M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5146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whose jobs expose them to heat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heat deaths are recorded as cardiac arrest. Blood-pressure medicines change how the body handles heat, but no tool connects a patient's record to today's weather.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NCDC via Deccan Herald (2025); Frontiers in Environmental Health 2026; ICMR-INDIAB (Lancet Diabetes Endocrinol 2023); Lancet Countdown India 2025.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blind spot: beta-blockers fool wearables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models read core temperature from heart rate, and beta-blockers stop heart rate rising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heat models assume heart rate rises with core temperature.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Beta-blockers blunt that rise, so estimates read low for exactly the patients at risk.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ThermoTwin reads the medication record and corrects the physiology before estimating.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404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real heat-trial data (PROSPIE) with a simulated beta-blocker effect on heart rate.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minutes (≥ 38 °C) caught, β-blocker patients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234940" y="3752698"/>
            <a:ext cx="960120" cy="362102"/>
          </a:xfrm>
          <a:prstGeom prst="rect">
            <a:avLst/>
          </a:prstGeom>
          <a:solidFill>
            <a:srgbClr val="6B675F"/>
          </a:solidFill>
          <a:ln w="12700">
            <a:solidFill>
              <a:srgbClr val="6B67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338693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4160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Heart-rate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55180" y="2867558"/>
            <a:ext cx="960120" cy="1247242"/>
          </a:xfrm>
          <a:prstGeom prst="rect">
            <a:avLst/>
          </a:prstGeom>
          <a:solidFill>
            <a:srgbClr val="B4461E"/>
          </a:solidFill>
          <a:ln w="12700">
            <a:solidFill>
              <a:srgbClr val="B446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250179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4160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ThermoTwin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4114800"/>
            <a:ext cx="3840480" cy="0"/>
          </a:xfrm>
          <a:prstGeom prst="line">
            <a:avLst/>
          </a:prstGeom>
          <a:noFill/>
          <a:ln w="12700">
            <a:solidFill>
              <a:srgbClr val="D9D5C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ThermoTwin in one slide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twin of a hypertensive outdoor worker, updated minute by minute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B4461E"/>
          </a:solidFill>
          <a:ln w="12700">
            <a:solidFill>
              <a:srgbClr val="B44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137160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Hypertension, with the medicines that treat it (β-blockers, ACE-i/ARB, CCB, diuretics)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67712"/>
            <a:ext cx="384048" cy="384048"/>
          </a:xfrm>
          <a:prstGeom prst="ellipse">
            <a:avLst/>
          </a:prstGeom>
          <a:solidFill>
            <a:srgbClr val="C2322B"/>
          </a:solidFill>
          <a:ln w="12700">
            <a:solidFill>
              <a:srgbClr val="C232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1762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Adverse event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2176272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temperature ≥ 38 °C: now, and forecast 60 minutes ahead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98094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2980944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EHR + 1-minute wearable heart rate and activity + weather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77056"/>
            <a:ext cx="384048" cy="384048"/>
          </a:xfrm>
          <a:prstGeom prst="ellipse">
            <a:avLst/>
          </a:prstGeom>
          <a:solidFill>
            <a:srgbClr val="1D8A5B"/>
          </a:solidFill>
          <a:ln w="12700">
            <a:solidFill>
              <a:srgbClr val="1D8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78561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2926080" y="3785616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doctor (dashboard, pre-summer review) and worker (rest alert)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ThermoTwin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physics + ML twin: the medication record changes the physiology model, not just the score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STREAMS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20116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9D5C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9047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EHR (synthetic)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meds by class, eGFR history, NSAIDs, age, BMI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176272"/>
            <a:ext cx="20116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9D5C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2199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stream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1-min heart rate + activity (JOS-3 simulated shifts)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907792"/>
            <a:ext cx="20116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9D5C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5351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archive: Delhi heatwave, May 2024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639312"/>
            <a:ext cx="2011680" cy="621792"/>
          </a:xfrm>
          <a:prstGeom prst="roundRect">
            <a:avLst>
              <a:gd name="adj" fmla="val 8824"/>
            </a:avLst>
          </a:prstGeom>
          <a:solidFill>
            <a:srgbClr val="F0EEEA"/>
          </a:solidFill>
          <a:ln w="12700">
            <a:solidFill>
              <a:srgbClr val="D9D5C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68503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heat trials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PROSPIE (22 people, 99 trials): validation only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1704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ENGINE (PYTHON)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80360" y="1444752"/>
            <a:ext cx="2514600" cy="621792"/>
          </a:xfrm>
          <a:prstGeom prst="roundRect">
            <a:avLst>
              <a:gd name="adj" fmla="val 8824"/>
            </a:avLst>
          </a:prstGeom>
          <a:solidFill>
            <a:srgbClr val="E3ECF7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71800" y="149047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ECTemp Kalman filter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temperature from heart rate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880360" y="2176272"/>
            <a:ext cx="2514600" cy="621792"/>
          </a:xfrm>
          <a:prstGeom prst="roundRect">
            <a:avLst>
              <a:gd name="adj" fmla="val 8824"/>
            </a:avLst>
          </a:prstGeom>
          <a:solidFill>
            <a:srgbClr val="E3ECF7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71800" y="22219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Medication correction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β-blocker: un-blunt HR, widen noise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880360" y="2907792"/>
            <a:ext cx="2514600" cy="621792"/>
          </a:xfrm>
          <a:prstGeom prst="roundRect">
            <a:avLst>
              <a:gd name="adj" fmla="val 8824"/>
            </a:avLst>
          </a:prstGeom>
          <a:solidFill>
            <a:srgbClr val="E3ECF7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71800" y="29535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Personal bias learning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Thermometer readings from past shifts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880360" y="3639312"/>
            <a:ext cx="2514600" cy="621792"/>
          </a:xfrm>
          <a:prstGeom prst="roundRect">
            <a:avLst>
              <a:gd name="adj" fmla="val 8824"/>
            </a:avLst>
          </a:prstGeom>
          <a:solidFill>
            <a:srgbClr val="E3ECF7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71800" y="368503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60-min forecaster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Gagge physics + gradient boosting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33088" y="2066544"/>
            <a:ext cx="914" cy="109728"/>
          </a:xfrm>
          <a:prstGeom prst="line">
            <a:avLst/>
          </a:prstGeom>
          <a:noFill/>
          <a:ln w="15875">
            <a:solidFill>
              <a:srgbClr val="1F5FA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133088" y="2798064"/>
            <a:ext cx="914" cy="109728"/>
          </a:xfrm>
          <a:prstGeom prst="line">
            <a:avLst/>
          </a:prstGeom>
          <a:noFill/>
          <a:ln w="15875">
            <a:solidFill>
              <a:srgbClr val="1F5FA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133088" y="3529584"/>
            <a:ext cx="914" cy="109728"/>
          </a:xfrm>
          <a:prstGeom prst="line">
            <a:avLst/>
          </a:prstGeom>
          <a:noFill/>
          <a:ln w="15875">
            <a:solidFill>
              <a:srgbClr val="1F5FA8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5806440" y="11704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06440" y="1444752"/>
            <a:ext cx="146304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9D5C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97880" y="1490472"/>
            <a:ext cx="1280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/patients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/timeline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/whatif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/review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06440" y="2907792"/>
            <a:ext cx="1463040" cy="1353312"/>
          </a:xfrm>
          <a:prstGeom prst="roundRect">
            <a:avLst>
              <a:gd name="adj" fmla="val 4054"/>
            </a:avLst>
          </a:prstGeom>
          <a:solidFill>
            <a:srgbClr val="F6E3DA"/>
          </a:solidFill>
          <a:ln w="12700">
            <a:solidFill>
              <a:srgbClr val="B4461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897880" y="2953512"/>
            <a:ext cx="1280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4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rules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whammy, eGFR decline, β-blocker masking, heat strain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589520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589520" y="1444752"/>
            <a:ext cx="1097280" cy="1353312"/>
          </a:xfrm>
          <a:prstGeom prst="roundRect">
            <a:avLst>
              <a:gd name="adj" fmla="val 5000"/>
            </a:avLst>
          </a:prstGeom>
          <a:solidFill>
            <a:srgbClr val="E1F1E9"/>
          </a:solidFill>
          <a:ln w="12700">
            <a:solidFill>
              <a:srgbClr val="1D8A5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80960" y="1490472"/>
            <a:ext cx="9144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live twin, what-if, review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589520" y="2907792"/>
            <a:ext cx="1097280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5C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0" y="2953512"/>
            <a:ext cx="9144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doctor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Pre-summer medication review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468880" y="1755648"/>
            <a:ext cx="411480" cy="914"/>
          </a:xfrm>
          <a:prstGeom prst="line">
            <a:avLst/>
          </a:prstGeom>
          <a:noFill/>
          <a:ln w="15875">
            <a:solidFill>
              <a:srgbClr val="6B675F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468880" y="2487168"/>
            <a:ext cx="411480" cy="914"/>
          </a:xfrm>
          <a:prstGeom prst="line">
            <a:avLst/>
          </a:prstGeom>
          <a:noFill/>
          <a:ln w="15875">
            <a:solidFill>
              <a:srgbClr val="6B675F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468880" y="3218688"/>
            <a:ext cx="411480" cy="914"/>
          </a:xfrm>
          <a:prstGeom prst="line">
            <a:avLst/>
          </a:prstGeom>
          <a:noFill/>
          <a:ln w="15875">
            <a:solidFill>
              <a:srgbClr val="6B675F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V="1">
            <a:off x="2468880" y="1920240"/>
            <a:ext cx="411480" cy="2029968"/>
          </a:xfrm>
          <a:prstGeom prst="line">
            <a:avLst/>
          </a:prstGeom>
          <a:noFill/>
          <a:ln w="15875">
            <a:solidFill>
              <a:srgbClr val="6B675F"/>
            </a:solidFill>
            <a:prstDash val="dash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394960" y="2121408"/>
            <a:ext cx="411480" cy="914"/>
          </a:xfrm>
          <a:prstGeom prst="line">
            <a:avLst/>
          </a:prstGeom>
          <a:noFill/>
          <a:ln w="15875">
            <a:solidFill>
              <a:srgbClr val="6B675F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394960" y="3584448"/>
            <a:ext cx="411480" cy="914"/>
          </a:xfrm>
          <a:prstGeom prst="line">
            <a:avLst/>
          </a:prstGeom>
          <a:noFill/>
          <a:ln w="15875">
            <a:solidFill>
              <a:srgbClr val="6B675F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269480" y="2121408"/>
            <a:ext cx="320040" cy="914"/>
          </a:xfrm>
          <a:prstGeom prst="line">
            <a:avLst/>
          </a:prstGeom>
          <a:noFill/>
          <a:ln w="15875">
            <a:solidFill>
              <a:srgbClr val="6B675F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138160" y="2798064"/>
            <a:ext cx="914" cy="109728"/>
          </a:xfrm>
          <a:prstGeom prst="line">
            <a:avLst/>
          </a:prstGeom>
          <a:noFill/>
          <a:ln w="15875">
            <a:solidFill>
              <a:srgbClr val="6B675F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457200" y="4407408"/>
            <a:ext cx="8229600" cy="329184"/>
          </a:xfrm>
          <a:prstGeom prst="roundRect">
            <a:avLst>
              <a:gd name="adj" fmla="val 22222"/>
            </a:avLst>
          </a:prstGeom>
          <a:solidFill>
            <a:srgbClr val="F0EEEA"/>
          </a:solidFill>
          <a:ln w="12700">
            <a:solidFill>
              <a:srgbClr val="F0EE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4360" y="440740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Docker Compose (non-root API with health check · nginx serves dashboard and proxies /api)    ·    Quality: pytest suite, participant-held-out real-data validation, multi-seed evaluation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twin thinks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first, then personalisation, then forecasting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F0EEEA"/>
          </a:solidFill>
          <a:ln w="12700">
            <a:solidFill>
              <a:srgbClr val="F0E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384048" cy="384048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60320"/>
            <a:ext cx="1600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ECTemp Kalman filter turns 1-minute heart rate into core temperature (Buller et al. 2013).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41732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F6E3DA"/>
          </a:solidFill>
          <a:ln w="12700">
            <a:solidFill>
              <a:srgbClr val="F6E3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1600200"/>
            <a:ext cx="384048" cy="384048"/>
          </a:xfrm>
          <a:prstGeom prst="ellipse">
            <a:avLst/>
          </a:prstGeom>
          <a:solidFill>
            <a:srgbClr val="B4461E"/>
          </a:solidFill>
          <a:ln w="12700">
            <a:solidFill>
              <a:srgbClr val="B446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1031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560320"/>
            <a:ext cx="1600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EHR lists a β-blocker, un-blunt heart rate with population priors and widen uncertainty.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F0EEEA"/>
          </a:solidFill>
          <a:ln w="12700">
            <a:solidFill>
              <a:srgbClr val="F0EE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600200"/>
            <a:ext cx="384048" cy="384048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1031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Personalise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560320"/>
            <a:ext cx="1600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each worker's bias from a few thermometer readings on earlier shifts.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141732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F0EEEA"/>
          </a:solidFill>
          <a:ln w="12700">
            <a:solidFill>
              <a:srgbClr val="F0E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1600200"/>
            <a:ext cx="384048" cy="384048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1031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2560320"/>
            <a:ext cx="1600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Gagge two-node physics + gradient boosting predict ≥ 38 °C within 60 minutes.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by design: ground truth comes from a different physiology model (JOS-3) than the twin uses, and each patient's true drug response is hidden from it.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on real heat trials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PROSPIE: 22 participants, 99 trials, rectal core temperature, held-out participants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377440" cy="2651760"/>
          </a:xfrm>
          <a:prstGeom prst="roundRect">
            <a:avLst>
              <a:gd name="adj" fmla="val 3077"/>
            </a:avLst>
          </a:prstGeom>
          <a:solidFill>
            <a:srgbClr val="E3ECF7"/>
          </a:solidFill>
          <a:ln w="12700">
            <a:solidFill>
              <a:srgbClr val="E3EC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0.32 °C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core-temperature error of our heart-rate engine on real people, in line with the published ~0.3 °C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1463040"/>
          <a:ext cx="557784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1005840"/>
                <a:gridCol w="1143000"/>
                <a:gridCol w="1005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β-blocker scenario (real data)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Danger caught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alarms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Heart-rate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 °C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ThermoTwin (medication-aware)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 °C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learned personal bias 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 °C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3108960" y="333756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Separate run with a different random drug response: 0.44 → 0.37 °C and 59% → 79% caught, but false alarms rise 13% → 38%, a trade-off we report. Skin-temperature fusion gave no real gain, so we don't claim it.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PROSPIE dataset, Loughborough University (CC BY-NC 4.0). The beta-blocker effect is simulated on real heart rate; participants were healthy volunteers.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60-minute forecast on a real Delhi heatwave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simulated workers on May–June 2024 weather (peaks of 46 °C), tested on unseen patients, 3 seeds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AUROC, mean of 3 seeds (higher is better)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1508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Weather-only alert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057400" y="1789176"/>
            <a:ext cx="1890065" cy="292608"/>
          </a:xfrm>
          <a:prstGeom prst="rect">
            <a:avLst/>
          </a:prstGeom>
          <a:solidFill>
            <a:srgbClr val="6B675F"/>
          </a:solidFill>
          <a:ln w="12700">
            <a:solidFill>
              <a:srgbClr val="6B67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02329" y="1691640"/>
            <a:ext cx="7772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79320"/>
            <a:ext cx="1508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nowcast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57400" y="2276856"/>
            <a:ext cx="2638958" cy="292608"/>
          </a:xfrm>
          <a:prstGeom prst="rect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1222" y="2179320"/>
            <a:ext cx="7772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667000"/>
            <a:ext cx="1508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forecast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057400" y="2764536"/>
            <a:ext cx="2460650" cy="292608"/>
          </a:xfrm>
          <a:prstGeom prst="rect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914" y="2667000"/>
            <a:ext cx="7772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154680"/>
            <a:ext cx="1508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Nowcast + personal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057400" y="3252216"/>
            <a:ext cx="2959913" cy="292608"/>
          </a:xfrm>
          <a:prstGeom prst="rect">
            <a:avLst/>
          </a:prstGeom>
          <a:solidFill>
            <a:srgbClr val="B4461E"/>
          </a:solidFill>
          <a:ln w="12700">
            <a:solidFill>
              <a:srgbClr val="B446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72177" y="3154680"/>
            <a:ext cx="7772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42360"/>
            <a:ext cx="1508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+ personal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057400" y="3739896"/>
            <a:ext cx="2852928" cy="292608"/>
          </a:xfrm>
          <a:prstGeom prst="rect">
            <a:avLst/>
          </a:prstGeom>
          <a:solidFill>
            <a:srgbClr val="B4461E"/>
          </a:solidFill>
          <a:ln w="12700">
            <a:solidFill>
              <a:srgbClr val="B446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65192" y="3642360"/>
            <a:ext cx="7772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130040"/>
            <a:ext cx="1508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ceiling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057400" y="4227576"/>
            <a:ext cx="3459175" cy="292608"/>
          </a:xfrm>
          <a:prstGeom prst="rect">
            <a:avLst/>
          </a:prstGeom>
          <a:solidFill>
            <a:srgbClr val="D9D5CD"/>
          </a:solidFill>
          <a:ln w="12700">
            <a:solidFill>
              <a:srgbClr val="D9D5C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71439" y="4130040"/>
            <a:ext cx="7772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1371600"/>
            <a:ext cx="2286000" cy="3200400"/>
          </a:xfrm>
          <a:prstGeom prst="roundRect">
            <a:avLst>
              <a:gd name="adj" fmla="val 3200"/>
            </a:avLst>
          </a:prstGeom>
          <a:solidFill>
            <a:srgbClr val="F0EEEA"/>
          </a:solidFill>
          <a:ln w="12700">
            <a:solidFill>
              <a:srgbClr val="F0EE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0" y="1554480"/>
            <a:ext cx="1965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44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+0.11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gain from learning each worker, consistent on every seed</a:t>
            </a:r>
            <a:endParaRPr lang="en-US" sz="3000" dirty="0"/>
          </a:p>
          <a:p>
            <a:pPr indent="0" marL="0">
              <a:buNone/>
            </a:pPr>
            <a:r>
              <a:rPr lang="en-US" sz="8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F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danger episodes warned ≥ 30 min ahead (weather-only alert: 0%)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clinician's live twin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28 May 2024 Delhi replay: patients ranked by risk, estimate with an 80% interval sized from real-data error</a:t>
            </a:r>
            <a:endParaRPr lang="en-US" sz="1300" dirty="0"/>
          </a:p>
        </p:txBody>
      </p:sp>
      <p:pic>
        <p:nvPicPr>
          <p:cNvPr id="4" name="Image 0" descr="/Users/purveesingh/thermotwin/docs/img/dashboard-t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5486400" cy="3429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0" y="1371600"/>
            <a:ext cx="1828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numbers, never contradictory: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≥ 38 °C now, and forecast within 60 min</a:t>
            </a:r>
            <a:endParaRPr lang="en-US" sz="1150" dirty="0"/>
          </a:p>
          <a:p>
            <a:pPr indent="0" marL="0">
              <a:buNone/>
            </a:pPr>
            <a:r>
              <a:rPr lang="en-US" sz="6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chips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β-blockers highlighted: their wearable readings are corrected</a:t>
            </a:r>
            <a:endParaRPr lang="en-US" sz="1150" dirty="0"/>
          </a:p>
          <a:p>
            <a:pPr indent="0" marL="0">
              <a:buNone/>
            </a:pPr>
            <a:r>
              <a:rPr lang="en-US" sz="6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toggle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simulated true core temperature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prediction to action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rest breaks for today; a medication review before summer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Farhan rests 30 min in the shade at 14:30?</a:t>
            </a:r>
            <a:endParaRPr lang="en-US" sz="1300" dirty="0"/>
          </a:p>
        </p:txBody>
      </p:sp>
      <p:pic>
        <p:nvPicPr>
          <p:cNvPr id="5" name="Image 0" descr="/Users/purveesingh/thermotwin/docs/img/dashboard-whati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3931920" cy="8595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651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minutes ≥ 38 °C fall from 39 to 16; alert minutes from 207 to 141.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0040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Pre-summer review ranks patients with cited rules: triple-whammy kidney risk (BMJ 2013), falling eGFR (KDIGO 2024), β-blocker masking, heat-illness drugs (2026 cohort) and predicted heat strain.</a:t>
            </a:r>
            <a:endParaRPr lang="en-US" sz="1200" dirty="0"/>
          </a:p>
        </p:txBody>
      </p:sp>
      <p:pic>
        <p:nvPicPr>
          <p:cNvPr id="8" name="Image 1" descr="/Users/purveesingh/thermotwin/docs/img/dashboard-re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25880"/>
            <a:ext cx="4023360" cy="2514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663440" y="3931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list for the PHC doctor · suggestions for clinician review, not orders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ThermoTwin different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with a typical risk-score prototype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651760"/>
                <a:gridCol w="356616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prototype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44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ThermoTwin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of the EHR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model features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the physiology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“twin” means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Classifier + dashboard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Kalman filter + physics + personal learning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heat trials, held-out participants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accuracy number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Baselines, oracle ceiling, 3 seeds, negative results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“Risk is high”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What-if rest breaks + medication review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fit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1B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Delhi heatwave, PHC workflow, outdoor workers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have not proven yet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plainly, with the next step for each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0EEEA"/>
          </a:solidFill>
          <a:ln w="12700">
            <a:solidFill>
              <a:srgbClr val="F0EE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patients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13716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weather and validation data are real.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37160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Pilot with a PHC hypertension clinic under ethics approval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1488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effect simulated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1488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PROSPIE volunteers were healthy; the β-blocker response was applied to their heart rate.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1488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Validate on real β-blocker users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0EEEA"/>
          </a:solidFill>
          <a:ln w="12700">
            <a:solidFill>
              <a:srgbClr val="F0EE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260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the oracle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292608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AUROC 0.80 vs 0.97 if current core were known.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92608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Better per-person heart-rate models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7033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651760" y="37033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learning raises detection but also alerts.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37033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Calibrate thresholds with clinicians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ThermoTwin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659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patient's record should change how we read their body in the heat.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7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it: docker compose up --build  →  http://localhost:8080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7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results and evaluation reports: GitHub repository (MIT licence)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 on simulated patients and real weather. Not a medical device.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ThermoTwin</dc:title>
  <dc:subject>PptxGenJS Presentation</dc:subject>
  <dc:creator>PptxGenJS</dc:creator>
  <cp:lastModifiedBy>PptxGenJS</cp:lastModifiedBy>
  <cp:revision>1</cp:revision>
  <dcterms:created xsi:type="dcterms:W3CDTF">2026-09-25T07:57:43Z</dcterms:created>
  <dcterms:modified xsi:type="dcterms:W3CDTF">2026-09-25T07:57:43Z</dcterms:modified>
</cp:coreProperties>
</file>